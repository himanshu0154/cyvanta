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 Bold" panose="020B0604020202020204" charset="0"/>
      <p:regular r:id="rId11"/>
    </p:embeddedFont>
    <p:embeddedFont>
      <p:font typeface="Brick Sans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Calibri (MS) Bold" panose="020B0604020202020204" charset="0"/>
      <p:regular r:id="rId14"/>
    </p:embeddedFont>
    <p:embeddedFont>
      <p:font typeface="Canva Sans" panose="020B0604020202020204" charset="0"/>
      <p:regular r:id="rId15"/>
    </p:embeddedFont>
    <p:embeddedFont>
      <p:font typeface="Garamond Bold" panose="02020804030307010803" pitchFamily="18" charset="0"/>
      <p:regular r:id="rId16"/>
      <p:bold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old" panose="00000800000000000000" charset="0"/>
      <p:regular r:id="rId22"/>
      <p:bold r:id="rId23"/>
    </p:embeddedFont>
    <p:embeddedFont>
      <p:font typeface="Montserrat Medium" panose="00000600000000000000" pitchFamily="2" charset="0"/>
      <p:regular r:id="rId24"/>
      <p:italic r:id="rId25"/>
    </p:embeddedFont>
    <p:embeddedFont>
      <p:font typeface="Montserrat Semi-Bold" panose="020B0604020202020204" charset="0"/>
      <p:regular r:id="rId26"/>
    </p:embeddedFont>
    <p:embeddedFont>
      <p:font typeface="Oswald" panose="00000500000000000000" pitchFamily="2" charset="0"/>
      <p:regular r:id="rId27"/>
    </p:embeddedFont>
    <p:embeddedFont>
      <p:font typeface="Times New Roman Bold" panose="02020803070505020304" pitchFamily="18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622" autoAdjust="0"/>
  </p:normalViewPr>
  <p:slideViewPr>
    <p:cSldViewPr>
      <p:cViewPr varScale="1">
        <p:scale>
          <a:sx n="41" d="100"/>
          <a:sy n="41" d="100"/>
        </p:scale>
        <p:origin x="764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presProps" Target="presProps.xml"/><Relationship Id="rId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anya arora" userId="5950081d2cd4d65f" providerId="LiveId" clId="{8AA70409-E540-4DB9-866B-776D4C4F3C36}"/>
    <pc:docChg chg="undo custSel modSld sldOrd">
      <pc:chgData name="lavanya arora" userId="5950081d2cd4d65f" providerId="LiveId" clId="{8AA70409-E540-4DB9-866B-776D4C4F3C36}" dt="2026-09-30T04:47:12.641" v="5" actId="1076"/>
      <pc:docMkLst>
        <pc:docMk/>
      </pc:docMkLst>
      <pc:sldChg chg="ord">
        <pc:chgData name="lavanya arora" userId="5950081d2cd4d65f" providerId="LiveId" clId="{8AA70409-E540-4DB9-866B-776D4C4F3C36}" dt="2026-09-30T04:47:12.560" v="4" actId="20578"/>
        <pc:sldMkLst>
          <pc:docMk/>
          <pc:sldMk cId="0" sldId="258"/>
        </pc:sldMkLst>
      </pc:sldChg>
      <pc:sldChg chg="modSp mod">
        <pc:chgData name="lavanya arora" userId="5950081d2cd4d65f" providerId="LiveId" clId="{8AA70409-E540-4DB9-866B-776D4C4F3C36}" dt="2026-09-30T04:47:12.641" v="5" actId="1076"/>
        <pc:sldMkLst>
          <pc:docMk/>
          <pc:sldMk cId="0" sldId="259"/>
        </pc:sldMkLst>
        <pc:spChg chg="mod">
          <ac:chgData name="lavanya arora" userId="5950081d2cd4d65f" providerId="LiveId" clId="{8AA70409-E540-4DB9-866B-776D4C4F3C36}" dt="2026-09-30T04:47:12.641" v="5" actId="1076"/>
          <ac:spMkLst>
            <pc:docMk/>
            <pc:sldMk cId="0" sldId="259"/>
            <ac:spMk id="46" creationId="{944BA780-4FAB-6D6D-B024-72B0739EF588}"/>
          </ac:spMkLst>
        </pc:spChg>
      </pc:sldChg>
      <pc:sldChg chg="modSp mod">
        <pc:chgData name="lavanya arora" userId="5950081d2cd4d65f" providerId="LiveId" clId="{8AA70409-E540-4DB9-866B-776D4C4F3C36}" dt="2026-09-30T04:46:59.075" v="0" actId="1076"/>
        <pc:sldMkLst>
          <pc:docMk/>
          <pc:sldMk cId="0" sldId="260"/>
        </pc:sldMkLst>
        <pc:spChg chg="mod">
          <ac:chgData name="lavanya arora" userId="5950081d2cd4d65f" providerId="LiveId" clId="{8AA70409-E540-4DB9-866B-776D4C4F3C36}" dt="2026-09-30T04:46:59.075" v="0" actId="1076"/>
          <ac:spMkLst>
            <pc:docMk/>
            <pc:sldMk cId="0" sldId="260"/>
            <ac:spMk id="24" creationId="{16ACF8DE-4A24-529D-3D1F-0B306592B8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6.jpeg"/><Relationship Id="rId10" Type="http://schemas.openxmlformats.org/officeDocument/2006/relationships/image" Target="../media/image9.png"/><Relationship Id="rId4" Type="http://schemas.openxmlformats.org/officeDocument/2006/relationships/image" Target="../media/image5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hyperlink" Target="https://aws-anomally-detection.vercel.app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2.png"/><Relationship Id="rId5" Type="http://schemas.openxmlformats.org/officeDocument/2006/relationships/image" Target="../media/image2.jpe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.jpeg"/><Relationship Id="rId3" Type="http://schemas.openxmlformats.org/officeDocument/2006/relationships/image" Target="../media/image4.png"/><Relationship Id="rId7" Type="http://schemas.openxmlformats.org/officeDocument/2006/relationships/image" Target="../media/image15.jpeg"/><Relationship Id="rId12" Type="http://schemas.openxmlformats.org/officeDocument/2006/relationships/image" Target="../media/image13.sv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jpeg"/><Relationship Id="rId5" Type="http://schemas.openxmlformats.org/officeDocument/2006/relationships/image" Target="../media/image8.png"/><Relationship Id="rId15" Type="http://schemas.openxmlformats.org/officeDocument/2006/relationships/image" Target="../media/image21.png"/><Relationship Id="rId10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17.jpe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26.png"/><Relationship Id="rId4" Type="http://schemas.openxmlformats.org/officeDocument/2006/relationships/image" Target="../media/image2.jpe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opscience.iop.org/article/10.1088/1742-6596/1816/1/012056" TargetMode="External"/><Relationship Id="rId5" Type="http://schemas.openxmlformats.org/officeDocument/2006/relationships/hyperlink" Target="https://www.sciencedirect.com/science/article/pii/S2215016125000299?via%3Dihub" TargetMode="External"/><Relationship Id="rId10" Type="http://schemas.openxmlformats.org/officeDocument/2006/relationships/image" Target="../media/image8.png"/><Relationship Id="rId4" Type="http://schemas.openxmlformats.org/officeDocument/2006/relationships/hyperlink" Target="https://power.larc.nasa.gov/data-access-viewer/?utm_source=chatgpt.com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59969" y="913848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SkyGuard ~ Excalibur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05669" y="-260785"/>
            <a:ext cx="15544800" cy="3114675"/>
            <a:chOff x="0" y="0"/>
            <a:chExt cx="20726400" cy="4152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2997" y="2736332"/>
            <a:ext cx="8703945" cy="7036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/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26073</a:t>
            </a: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AI/ML Based Intelligent Anomaly Detection for Automatic Weather Stations (AWS)</a:t>
            </a: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Disaster Management </a:t>
            </a: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Excalibur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764754" y="2490206"/>
            <a:ext cx="5678319" cy="6124861"/>
            <a:chOff x="0" y="0"/>
            <a:chExt cx="7571092" cy="81664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571105" cy="8166481"/>
            </a:xfrm>
            <a:custGeom>
              <a:avLst/>
              <a:gdLst/>
              <a:ahLst/>
              <a:cxnLst/>
              <a:rect l="l" t="t" r="r" b="b"/>
              <a:pathLst>
                <a:path w="7571105" h="8166481">
                  <a:moveTo>
                    <a:pt x="0" y="0"/>
                  </a:moveTo>
                  <a:lnTo>
                    <a:pt x="7571105" y="0"/>
                  </a:lnTo>
                  <a:lnTo>
                    <a:pt x="7571105" y="8166481"/>
                  </a:lnTo>
                  <a:lnTo>
                    <a:pt x="0" y="81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2843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" y="0"/>
            <a:ext cx="18288000" cy="9864395"/>
            <a:chOff x="0" y="0"/>
            <a:chExt cx="24384000" cy="13152526"/>
          </a:xfrm>
        </p:grpSpPr>
        <p:sp>
          <p:nvSpPr>
            <p:cNvPr id="3" name="Freeform 3" descr="Clouds Wallpapers - Wallpaper Cave"/>
            <p:cNvSpPr/>
            <p:nvPr/>
          </p:nvSpPr>
          <p:spPr>
            <a:xfrm>
              <a:off x="0" y="0"/>
              <a:ext cx="24384000" cy="13152501"/>
            </a:xfrm>
            <a:custGeom>
              <a:avLst/>
              <a:gdLst/>
              <a:ahLst/>
              <a:cxnLst/>
              <a:rect l="l" t="t" r="r" b="b"/>
              <a:pathLst>
                <a:path w="24384000" h="13152501">
                  <a:moveTo>
                    <a:pt x="0" y="0"/>
                  </a:moveTo>
                  <a:lnTo>
                    <a:pt x="24384000" y="0"/>
                  </a:lnTo>
                  <a:lnTo>
                    <a:pt x="24384000" y="13152501"/>
                  </a:lnTo>
                  <a:lnTo>
                    <a:pt x="0" y="13152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4999"/>
              </a:blip>
              <a:stretch>
                <a:fillRect t="-7886" b="-788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72386" y="3681031"/>
            <a:ext cx="4748289" cy="4098293"/>
            <a:chOff x="0" y="0"/>
            <a:chExt cx="6331052" cy="54643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31077" cy="5464429"/>
            </a:xfrm>
            <a:custGeom>
              <a:avLst/>
              <a:gdLst/>
              <a:ahLst/>
              <a:cxnLst/>
              <a:rect l="l" t="t" r="r" b="b"/>
              <a:pathLst>
                <a:path w="6331077" h="5464429">
                  <a:moveTo>
                    <a:pt x="0" y="2732151"/>
                  </a:moveTo>
                  <a:lnTo>
                    <a:pt x="1366139" y="0"/>
                  </a:lnTo>
                  <a:lnTo>
                    <a:pt x="4964938" y="0"/>
                  </a:lnTo>
                  <a:lnTo>
                    <a:pt x="6331077" y="2732151"/>
                  </a:lnTo>
                  <a:lnTo>
                    <a:pt x="4964938" y="5464429"/>
                  </a:lnTo>
                  <a:lnTo>
                    <a:pt x="1366139" y="5464429"/>
                  </a:lnTo>
                  <a:close/>
                </a:path>
              </a:pathLst>
            </a:custGeom>
            <a:blipFill>
              <a:blip r:embed="rId4">
                <a:alphaModFix amt="70000"/>
              </a:blip>
              <a:stretch>
                <a:fillRect t="-1963" b="-1962"/>
              </a:stretch>
            </a:blipFill>
            <a:ln w="38100" cap="sq">
              <a:solidFill>
                <a:srgbClr val="1F497D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422639" y="5604921"/>
            <a:ext cx="4337599" cy="3782176"/>
            <a:chOff x="0" y="0"/>
            <a:chExt cx="784720" cy="6842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4733" cy="684276"/>
            </a:xfrm>
            <a:custGeom>
              <a:avLst/>
              <a:gdLst/>
              <a:ahLst/>
              <a:cxnLst/>
              <a:rect l="l" t="t" r="r" b="b"/>
              <a:pathLst>
                <a:path w="784733" h="684276">
                  <a:moveTo>
                    <a:pt x="0" y="342138"/>
                  </a:moveTo>
                  <a:lnTo>
                    <a:pt x="171069" y="0"/>
                  </a:lnTo>
                  <a:lnTo>
                    <a:pt x="613664" y="0"/>
                  </a:lnTo>
                  <a:lnTo>
                    <a:pt x="784733" y="342138"/>
                  </a:lnTo>
                  <a:lnTo>
                    <a:pt x="613664" y="684276"/>
                  </a:lnTo>
                  <a:lnTo>
                    <a:pt x="171069" y="684276"/>
                  </a:lnTo>
                  <a:close/>
                </a:path>
              </a:pathLst>
            </a:custGeom>
            <a:blipFill>
              <a:blip r:embed="rId5"/>
              <a:stretch>
                <a:fillRect t="-7340" b="-7340"/>
              </a:stretch>
            </a:blipFill>
            <a:ln w="38100" cap="sq">
              <a:solidFill>
                <a:srgbClr val="1F497D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-3" y="9532144"/>
            <a:ext cx="18288000" cy="754856"/>
            <a:chOff x="0" y="0"/>
            <a:chExt cx="24384000" cy="10064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30638" y="-1461209"/>
            <a:ext cx="16459200" cy="3195492"/>
            <a:chOff x="0" y="0"/>
            <a:chExt cx="21945600" cy="42606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4260657"/>
            </a:xfrm>
            <a:custGeom>
              <a:avLst/>
              <a:gdLst/>
              <a:ahLst/>
              <a:cxnLst/>
              <a:rect l="l" t="t" r="r" b="b"/>
              <a:pathLst>
                <a:path w="21945600" h="4260657">
                  <a:moveTo>
                    <a:pt x="0" y="0"/>
                  </a:moveTo>
                  <a:lnTo>
                    <a:pt x="21945600" y="0"/>
                  </a:lnTo>
                  <a:lnTo>
                    <a:pt x="21945600" y="4260657"/>
                  </a:lnTo>
                  <a:lnTo>
                    <a:pt x="0" y="426065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3535" b="-2718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21945600" cy="43368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479"/>
                </a:lnSpc>
              </a:pPr>
              <a:endParaRPr dirty="0"/>
            </a:p>
            <a:p>
              <a:pPr algn="ctr">
                <a:lnSpc>
                  <a:spcPts val="10919"/>
                </a:lnSpc>
              </a:pPr>
              <a:r>
                <a:rPr lang="en-US" sz="9099" dirty="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 </a:t>
              </a:r>
              <a:r>
                <a:rPr lang="en-US" sz="9099" dirty="0" err="1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SkyGuard</a:t>
              </a:r>
              <a:r>
                <a:rPr lang="en-US" sz="9099" dirty="0">
                  <a:solidFill>
                    <a:srgbClr val="00000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 AI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1533458"/>
            <a:ext cx="15961138" cy="2076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0"/>
              </a:lnSpc>
            </a:pPr>
            <a:r>
              <a:rPr lang="en-US" sz="4558" dirty="0">
                <a:solidFill>
                  <a:srgbClr val="0077B6"/>
                </a:solidFill>
                <a:latin typeface="Oswald"/>
                <a:ea typeface="Oswald"/>
                <a:cs typeface="Oswald"/>
                <a:sym typeface="Oswald"/>
              </a:rPr>
              <a:t>AI/ML BASED ANOMALY DETECTOR FOR AWS  </a:t>
            </a:r>
          </a:p>
          <a:p>
            <a:pPr algn="ctr">
              <a:lnSpc>
                <a:spcPts val="5470"/>
              </a:lnSpc>
            </a:pPr>
            <a:endParaRPr lang="en-US" sz="4558" dirty="0">
              <a:solidFill>
                <a:srgbClr val="0077B6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>
              <a:lnSpc>
                <a:spcPts val="5470"/>
              </a:lnSpc>
            </a:pPr>
            <a:endParaRPr lang="en-US" sz="4558" dirty="0">
              <a:solidFill>
                <a:srgbClr val="0077B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4204423" y="2293772"/>
            <a:ext cx="3169177" cy="2097186"/>
            <a:chOff x="0" y="0"/>
            <a:chExt cx="4225569" cy="27962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225544" cy="2796286"/>
            </a:xfrm>
            <a:custGeom>
              <a:avLst/>
              <a:gdLst/>
              <a:ahLst/>
              <a:cxnLst/>
              <a:rect l="l" t="t" r="r" b="b"/>
              <a:pathLst>
                <a:path w="4225544" h="2796286">
                  <a:moveTo>
                    <a:pt x="0" y="0"/>
                  </a:moveTo>
                  <a:lnTo>
                    <a:pt x="4225544" y="0"/>
                  </a:lnTo>
                  <a:lnTo>
                    <a:pt x="4225544" y="2796286"/>
                  </a:lnTo>
                  <a:lnTo>
                    <a:pt x="0" y="2796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200021" b="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4211567" y="4732544"/>
            <a:ext cx="3169177" cy="2097186"/>
            <a:chOff x="0" y="0"/>
            <a:chExt cx="4225569" cy="27962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25544" cy="2796286"/>
            </a:xfrm>
            <a:custGeom>
              <a:avLst/>
              <a:gdLst/>
              <a:ahLst/>
              <a:cxnLst/>
              <a:rect l="l" t="t" r="r" b="b"/>
              <a:pathLst>
                <a:path w="4225544" h="2796286">
                  <a:moveTo>
                    <a:pt x="0" y="0"/>
                  </a:moveTo>
                  <a:lnTo>
                    <a:pt x="4225544" y="0"/>
                  </a:lnTo>
                  <a:lnTo>
                    <a:pt x="4225544" y="2796286"/>
                  </a:lnTo>
                  <a:lnTo>
                    <a:pt x="0" y="2796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8799" t="-28" r="-101221" b="29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4211567" y="7171315"/>
            <a:ext cx="3169177" cy="2097186"/>
            <a:chOff x="0" y="0"/>
            <a:chExt cx="4225569" cy="27962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25544" cy="2796286"/>
            </a:xfrm>
            <a:custGeom>
              <a:avLst/>
              <a:gdLst/>
              <a:ahLst/>
              <a:cxnLst/>
              <a:rect l="l" t="t" r="r" b="b"/>
              <a:pathLst>
                <a:path w="4225544" h="2796286">
                  <a:moveTo>
                    <a:pt x="0" y="0"/>
                  </a:moveTo>
                  <a:lnTo>
                    <a:pt x="4225544" y="0"/>
                  </a:lnTo>
                  <a:lnTo>
                    <a:pt x="4225544" y="2796286"/>
                  </a:lnTo>
                  <a:lnTo>
                    <a:pt x="0" y="2796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98134" t="897" r="-1887" b="-896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0" y="-98765"/>
            <a:ext cx="2421817" cy="1092213"/>
            <a:chOff x="0" y="0"/>
            <a:chExt cx="3229089" cy="14562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229102" cy="1456309"/>
            </a:xfrm>
            <a:custGeom>
              <a:avLst/>
              <a:gdLst/>
              <a:ahLst/>
              <a:cxnLst/>
              <a:rect l="l" t="t" r="r" b="b"/>
              <a:pathLst>
                <a:path w="3229102" h="1456309">
                  <a:moveTo>
                    <a:pt x="0" y="0"/>
                  </a:moveTo>
                  <a:lnTo>
                    <a:pt x="3229102" y="0"/>
                  </a:lnTo>
                  <a:lnTo>
                    <a:pt x="3229102" y="1456309"/>
                  </a:lnTo>
                  <a:lnTo>
                    <a:pt x="0" y="1456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1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1196816" y="2562158"/>
            <a:ext cx="2235927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Overall AWS Status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96816" y="5015803"/>
            <a:ext cx="2433047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Anomaly activity status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48244" y="7505533"/>
            <a:ext cx="3130191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Sensor health monitoring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39335" y="3447983"/>
            <a:ext cx="3129063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8" lvl="1" indent="-190024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Checks real time data and evaluates station’s health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15112" y="5903747"/>
            <a:ext cx="3596454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8" lvl="1" indent="-190024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Tells active anomalies </a:t>
            </a:r>
          </a:p>
          <a:p>
            <a:pPr marL="380048" lvl="1" indent="-190024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States +ve/-ve spike in parameters as well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15112" y="8323998"/>
            <a:ext cx="337750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8" lvl="1" indent="-190024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Detects sensors deteriorating. Helps detect precise causes 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28172" y="2664314"/>
            <a:ext cx="5508403" cy="2497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endParaRPr dirty="0"/>
          </a:p>
          <a:p>
            <a:pPr algn="ctr">
              <a:lnSpc>
                <a:spcPts val="2777"/>
              </a:lnSpc>
            </a:pPr>
            <a:r>
              <a:rPr lang="en-US" sz="2314" dirty="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Sky Guard AI: An end to end pipeline that ingests  AWS station’s data, cleans and engineers features, detects via Isolation Forest + Rule based checks and alerts on a live dashboard</a:t>
            </a:r>
          </a:p>
        </p:txBody>
      </p:sp>
      <p:sp>
        <p:nvSpPr>
          <p:cNvPr id="34" name="Freeform 34"/>
          <p:cNvSpPr/>
          <p:nvPr/>
        </p:nvSpPr>
        <p:spPr>
          <a:xfrm>
            <a:off x="3905841" y="6679767"/>
            <a:ext cx="5103428" cy="1654526"/>
          </a:xfrm>
          <a:custGeom>
            <a:avLst/>
            <a:gdLst/>
            <a:ahLst/>
            <a:cxnLst/>
            <a:rect l="l" t="t" r="r" b="b"/>
            <a:pathLst>
              <a:path w="4963578" h="1654526">
                <a:moveTo>
                  <a:pt x="0" y="0"/>
                </a:moveTo>
                <a:lnTo>
                  <a:pt x="4963577" y="0"/>
                </a:lnTo>
                <a:lnTo>
                  <a:pt x="4963577" y="1654526"/>
                </a:lnTo>
                <a:lnTo>
                  <a:pt x="0" y="1654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001" y="51630"/>
            <a:ext cx="18287999" cy="9532277"/>
            <a:chOff x="0" y="0"/>
            <a:chExt cx="24384000" cy="13152526"/>
          </a:xfrm>
        </p:grpSpPr>
        <p:sp>
          <p:nvSpPr>
            <p:cNvPr id="3" name="Freeform 3" descr="Clouds Wallpapers - Wallpaper Cave"/>
            <p:cNvSpPr/>
            <p:nvPr/>
          </p:nvSpPr>
          <p:spPr>
            <a:xfrm>
              <a:off x="0" y="0"/>
              <a:ext cx="24384000" cy="13152501"/>
            </a:xfrm>
            <a:custGeom>
              <a:avLst/>
              <a:gdLst/>
              <a:ahLst/>
              <a:cxnLst/>
              <a:rect l="l" t="t" r="r" b="b"/>
              <a:pathLst>
                <a:path w="24384000" h="13152501">
                  <a:moveTo>
                    <a:pt x="0" y="0"/>
                  </a:moveTo>
                  <a:lnTo>
                    <a:pt x="24384000" y="0"/>
                  </a:lnTo>
                  <a:lnTo>
                    <a:pt x="24384000" y="13152501"/>
                  </a:lnTo>
                  <a:lnTo>
                    <a:pt x="0" y="13152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8249"/>
              </a:blip>
              <a:stretch>
                <a:fillRect t="-7886" b="-788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41" name="Freeform 34">
            <a:extLst>
              <a:ext uri="{FF2B5EF4-FFF2-40B4-BE49-F238E27FC236}">
                <a16:creationId xmlns:a16="http://schemas.microsoft.com/office/drawing/2014/main" id="{84C751CB-8B96-B416-D533-CCA18358C22B}"/>
              </a:ext>
            </a:extLst>
          </p:cNvPr>
          <p:cNvSpPr/>
          <p:nvPr/>
        </p:nvSpPr>
        <p:spPr>
          <a:xfrm>
            <a:off x="2707550" y="-167648"/>
            <a:ext cx="12009146" cy="2067948"/>
          </a:xfrm>
          <a:custGeom>
            <a:avLst/>
            <a:gdLst/>
            <a:ahLst/>
            <a:cxnLst/>
            <a:rect l="l" t="t" r="r" b="b"/>
            <a:pathLst>
              <a:path w="4963578" h="1654526">
                <a:moveTo>
                  <a:pt x="0" y="0"/>
                </a:moveTo>
                <a:lnTo>
                  <a:pt x="4963577" y="0"/>
                </a:lnTo>
                <a:lnTo>
                  <a:pt x="4963577" y="1654526"/>
                </a:lnTo>
                <a:lnTo>
                  <a:pt x="0" y="1654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/>
          <p:cNvGrpSpPr/>
          <p:nvPr/>
        </p:nvGrpSpPr>
        <p:grpSpPr>
          <a:xfrm>
            <a:off x="13106400" y="9583907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70129" y="51630"/>
            <a:ext cx="3374774" cy="1593504"/>
            <a:chOff x="0" y="0"/>
            <a:chExt cx="4499699" cy="21246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0" y="-49382"/>
            <a:ext cx="2421817" cy="1092213"/>
            <a:chOff x="0" y="0"/>
            <a:chExt cx="3229089" cy="14562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9102" cy="1456309"/>
            </a:xfrm>
            <a:custGeom>
              <a:avLst/>
              <a:gdLst/>
              <a:ahLst/>
              <a:cxnLst/>
              <a:rect l="l" t="t" r="r" b="b"/>
              <a:pathLst>
                <a:path w="3229102" h="1456309">
                  <a:moveTo>
                    <a:pt x="0" y="0"/>
                  </a:moveTo>
                  <a:lnTo>
                    <a:pt x="3229102" y="0"/>
                  </a:lnTo>
                  <a:lnTo>
                    <a:pt x="3229102" y="1456309"/>
                  </a:lnTo>
                  <a:lnTo>
                    <a:pt x="0" y="1456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0005810" y="4940249"/>
            <a:ext cx="8146161" cy="2623340"/>
          </a:xfrm>
          <a:custGeom>
            <a:avLst/>
            <a:gdLst/>
            <a:ahLst/>
            <a:cxnLst/>
            <a:rect l="l" t="t" r="r" b="b"/>
            <a:pathLst>
              <a:path w="8146161" h="2623340">
                <a:moveTo>
                  <a:pt x="0" y="0"/>
                </a:moveTo>
                <a:lnTo>
                  <a:pt x="8146161" y="0"/>
                </a:lnTo>
                <a:lnTo>
                  <a:pt x="8146161" y="2623340"/>
                </a:lnTo>
                <a:lnTo>
                  <a:pt x="0" y="26233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16067" y="6010275"/>
            <a:ext cx="8447309" cy="3448045"/>
          </a:xfrm>
          <a:custGeom>
            <a:avLst/>
            <a:gdLst/>
            <a:ahLst/>
            <a:cxnLst/>
            <a:rect l="l" t="t" r="r" b="b"/>
            <a:pathLst>
              <a:path w="8447309" h="3448045">
                <a:moveTo>
                  <a:pt x="0" y="0"/>
                </a:moveTo>
                <a:lnTo>
                  <a:pt x="8447309" y="0"/>
                </a:lnTo>
                <a:lnTo>
                  <a:pt x="8447309" y="3448045"/>
                </a:lnTo>
                <a:lnTo>
                  <a:pt x="0" y="34480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281954" y="2777929"/>
            <a:ext cx="3169177" cy="2097186"/>
            <a:chOff x="0" y="0"/>
            <a:chExt cx="4225569" cy="27962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25544" cy="2796286"/>
            </a:xfrm>
            <a:custGeom>
              <a:avLst/>
              <a:gdLst/>
              <a:ahLst/>
              <a:cxnLst/>
              <a:rect l="l" t="t" r="r" b="b"/>
              <a:pathLst>
                <a:path w="4225544" h="2796286">
                  <a:moveTo>
                    <a:pt x="342900" y="0"/>
                  </a:moveTo>
                  <a:lnTo>
                    <a:pt x="3882644" y="0"/>
                  </a:lnTo>
                  <a:cubicBezTo>
                    <a:pt x="4072022" y="0"/>
                    <a:pt x="4225544" y="153522"/>
                    <a:pt x="4225544" y="342900"/>
                  </a:cubicBezTo>
                  <a:lnTo>
                    <a:pt x="4225544" y="2453386"/>
                  </a:lnTo>
                  <a:cubicBezTo>
                    <a:pt x="4225544" y="2544329"/>
                    <a:pt x="4189417" y="2631547"/>
                    <a:pt x="4125111" y="2695853"/>
                  </a:cubicBezTo>
                  <a:cubicBezTo>
                    <a:pt x="4060805" y="2760159"/>
                    <a:pt x="3973587" y="2796286"/>
                    <a:pt x="3882644" y="2796286"/>
                  </a:cubicBezTo>
                  <a:lnTo>
                    <a:pt x="342900" y="2796286"/>
                  </a:lnTo>
                  <a:cubicBezTo>
                    <a:pt x="153522" y="2796286"/>
                    <a:pt x="0" y="2642764"/>
                    <a:pt x="0" y="2453386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blipFill>
              <a:blip r:embed="rId10"/>
              <a:stretch>
                <a:fillRect r="-200021"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7758040" y="2747223"/>
            <a:ext cx="3169177" cy="2097186"/>
            <a:chOff x="0" y="0"/>
            <a:chExt cx="4225569" cy="27962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25544" cy="2796286"/>
            </a:xfrm>
            <a:custGeom>
              <a:avLst/>
              <a:gdLst/>
              <a:ahLst/>
              <a:cxnLst/>
              <a:rect l="l" t="t" r="r" b="b"/>
              <a:pathLst>
                <a:path w="4225544" h="2796286">
                  <a:moveTo>
                    <a:pt x="342900" y="0"/>
                  </a:moveTo>
                  <a:lnTo>
                    <a:pt x="3882644" y="0"/>
                  </a:lnTo>
                  <a:cubicBezTo>
                    <a:pt x="4072022" y="0"/>
                    <a:pt x="4225544" y="153522"/>
                    <a:pt x="4225544" y="342900"/>
                  </a:cubicBezTo>
                  <a:lnTo>
                    <a:pt x="4225544" y="2453386"/>
                  </a:lnTo>
                  <a:cubicBezTo>
                    <a:pt x="4225544" y="2544329"/>
                    <a:pt x="4189417" y="2631547"/>
                    <a:pt x="4125111" y="2695853"/>
                  </a:cubicBezTo>
                  <a:cubicBezTo>
                    <a:pt x="4060805" y="2760159"/>
                    <a:pt x="3973587" y="2796286"/>
                    <a:pt x="3882644" y="2796286"/>
                  </a:cubicBezTo>
                  <a:lnTo>
                    <a:pt x="342900" y="2796286"/>
                  </a:lnTo>
                  <a:cubicBezTo>
                    <a:pt x="153522" y="2796286"/>
                    <a:pt x="0" y="2642764"/>
                    <a:pt x="0" y="2453386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blipFill>
              <a:blip r:embed="rId10"/>
              <a:stretch>
                <a:fillRect l="-98799" t="-28" r="-101221" b="2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1166470" y="2532908"/>
            <a:ext cx="3169177" cy="2147374"/>
            <a:chOff x="0" y="0"/>
            <a:chExt cx="4225569" cy="27962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25544" cy="2796286"/>
            </a:xfrm>
            <a:custGeom>
              <a:avLst/>
              <a:gdLst/>
              <a:ahLst/>
              <a:cxnLst/>
              <a:rect l="l" t="t" r="r" b="b"/>
              <a:pathLst>
                <a:path w="4225544" h="2796286">
                  <a:moveTo>
                    <a:pt x="342900" y="0"/>
                  </a:moveTo>
                  <a:lnTo>
                    <a:pt x="3882644" y="0"/>
                  </a:lnTo>
                  <a:cubicBezTo>
                    <a:pt x="4072022" y="0"/>
                    <a:pt x="4225544" y="153522"/>
                    <a:pt x="4225544" y="342900"/>
                  </a:cubicBezTo>
                  <a:lnTo>
                    <a:pt x="4225544" y="2453386"/>
                  </a:lnTo>
                  <a:cubicBezTo>
                    <a:pt x="4225544" y="2544329"/>
                    <a:pt x="4189417" y="2631547"/>
                    <a:pt x="4125111" y="2695853"/>
                  </a:cubicBezTo>
                  <a:cubicBezTo>
                    <a:pt x="4060805" y="2760159"/>
                    <a:pt x="3973587" y="2796286"/>
                    <a:pt x="3882644" y="2796286"/>
                  </a:cubicBezTo>
                  <a:lnTo>
                    <a:pt x="342900" y="2796286"/>
                  </a:lnTo>
                  <a:cubicBezTo>
                    <a:pt x="153522" y="2796286"/>
                    <a:pt x="0" y="2642764"/>
                    <a:pt x="0" y="2453386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blipFill>
              <a:blip r:embed="rId10"/>
              <a:stretch>
                <a:fillRect l="-198134" t="897" r="-1887" b="-896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3106400" y="9659950"/>
            <a:ext cx="4267200" cy="627050"/>
            <a:chOff x="0" y="0"/>
            <a:chExt cx="5689600" cy="8360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89600" cy="836067"/>
            </a:xfrm>
            <a:custGeom>
              <a:avLst/>
              <a:gdLst/>
              <a:ahLst/>
              <a:cxnLst/>
              <a:rect l="l" t="t" r="r" b="b"/>
              <a:pathLst>
                <a:path w="5689600" h="836067">
                  <a:moveTo>
                    <a:pt x="0" y="0"/>
                  </a:moveTo>
                  <a:lnTo>
                    <a:pt x="5689600" y="0"/>
                  </a:lnTo>
                  <a:lnTo>
                    <a:pt x="5689600" y="836067"/>
                  </a:lnTo>
                  <a:lnTo>
                    <a:pt x="0" y="8360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8927" b="-7627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689600" cy="855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  <a:p>
              <a:pPr algn="r">
                <a:lnSpc>
                  <a:spcPts val="2160"/>
                </a:lnSpc>
              </a:pPr>
              <a:endPara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574336" y="3426543"/>
            <a:ext cx="2797640" cy="2037704"/>
          </a:xfrm>
          <a:custGeom>
            <a:avLst/>
            <a:gdLst/>
            <a:ahLst/>
            <a:cxnLst/>
            <a:rect l="l" t="t" r="r" b="b"/>
            <a:pathLst>
              <a:path w="2797640" h="2037704">
                <a:moveTo>
                  <a:pt x="0" y="0"/>
                </a:moveTo>
                <a:lnTo>
                  <a:pt x="2797640" y="0"/>
                </a:lnTo>
                <a:lnTo>
                  <a:pt x="2797640" y="2037704"/>
                </a:lnTo>
                <a:lnTo>
                  <a:pt x="0" y="20377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2613251" flipV="1">
            <a:off x="14104812" y="4096038"/>
            <a:ext cx="1130633" cy="372081"/>
          </a:xfrm>
          <a:custGeom>
            <a:avLst/>
            <a:gdLst/>
            <a:ahLst/>
            <a:cxnLst/>
            <a:rect l="l" t="t" r="r" b="b"/>
            <a:pathLst>
              <a:path w="1130633" h="372081">
                <a:moveTo>
                  <a:pt x="0" y="372081"/>
                </a:moveTo>
                <a:lnTo>
                  <a:pt x="1130633" y="372081"/>
                </a:lnTo>
                <a:lnTo>
                  <a:pt x="1130633" y="0"/>
                </a:lnTo>
                <a:lnTo>
                  <a:pt x="0" y="0"/>
                </a:lnTo>
                <a:lnTo>
                  <a:pt x="0" y="37208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400143" y="7426635"/>
            <a:ext cx="3350916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EXPLAINABLE ANOMALY LOGS </a:t>
            </a:r>
          </a:p>
          <a:p>
            <a:pPr algn="ctr">
              <a:lnSpc>
                <a:spcPts val="3220"/>
              </a:lnSpc>
            </a:pPr>
            <a:r>
              <a:rPr lang="en-US" sz="23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</a:t>
            </a:r>
          </a:p>
          <a:p>
            <a:pPr algn="ctr">
              <a:lnSpc>
                <a:spcPts val="3220"/>
              </a:lnSpc>
            </a:pPr>
            <a:r>
              <a:rPr lang="en-US" sz="23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ACTIONABLE EARLY WARNING</a:t>
            </a:r>
          </a:p>
        </p:txBody>
      </p:sp>
      <p:sp>
        <p:nvSpPr>
          <p:cNvPr id="27" name="Freeform 27"/>
          <p:cNvSpPr/>
          <p:nvPr/>
        </p:nvSpPr>
        <p:spPr>
          <a:xfrm rot="8357508" flipV="1">
            <a:off x="9140735" y="7548257"/>
            <a:ext cx="1130633" cy="372081"/>
          </a:xfrm>
          <a:custGeom>
            <a:avLst/>
            <a:gdLst/>
            <a:ahLst/>
            <a:cxnLst/>
            <a:rect l="l" t="t" r="r" b="b"/>
            <a:pathLst>
              <a:path w="1130633" h="372081">
                <a:moveTo>
                  <a:pt x="0" y="372081"/>
                </a:moveTo>
                <a:lnTo>
                  <a:pt x="1130633" y="372081"/>
                </a:lnTo>
                <a:lnTo>
                  <a:pt x="1130633" y="0"/>
                </a:lnTo>
                <a:lnTo>
                  <a:pt x="0" y="0"/>
                </a:lnTo>
                <a:lnTo>
                  <a:pt x="0" y="37208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8529" y="1445789"/>
            <a:ext cx="3806622" cy="78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REAL-TIME MONITORING SENSORS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7740" y="2233060"/>
            <a:ext cx="3550833" cy="105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sz="201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Continuously monitors temperature, humidity and pressure from AWS sensors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9442" y="1850745"/>
            <a:ext cx="3384874" cy="78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302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AI-POWERED ANOMALY DETECTION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34486" y="1948088"/>
            <a:ext cx="5771823" cy="69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4"/>
              </a:lnSpc>
            </a:pPr>
            <a:r>
              <a:rPr lang="en-US" sz="201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Learns normal sensor behavior and automatically identifies abnormal patterns.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561954" y="1597509"/>
            <a:ext cx="3482949" cy="78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REAL-TIME TREND ANALYSIS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776116" y="2532907"/>
            <a:ext cx="3162799" cy="1749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4"/>
              </a:lnSpc>
            </a:pPr>
            <a:r>
              <a:rPr lang="en-US" sz="20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Visualizes sensor behavior to reveal sudden changes, drift and correlated anomalies.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739978" y="7714341"/>
            <a:ext cx="5207545" cy="139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4"/>
              </a:lnSpc>
            </a:pPr>
            <a:r>
              <a:rPr lang="en-US" sz="201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Every detected anomaly is recorded with its sensor, timestamp, severity and status &amp; Converts raw sensor data into clear, timely alerts for faster intervention.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-5073400" y="167341"/>
            <a:ext cx="17813378" cy="6941172"/>
            <a:chOff x="0" y="-76200"/>
            <a:chExt cx="23751171" cy="9254898"/>
          </a:xfrm>
        </p:grpSpPr>
        <p:sp>
          <p:nvSpPr>
            <p:cNvPr id="36" name="Freeform 36"/>
            <p:cNvSpPr/>
            <p:nvPr/>
          </p:nvSpPr>
          <p:spPr>
            <a:xfrm>
              <a:off x="1805571" y="4918041"/>
              <a:ext cx="21945600" cy="4260657"/>
            </a:xfrm>
            <a:custGeom>
              <a:avLst/>
              <a:gdLst/>
              <a:ahLst/>
              <a:cxnLst/>
              <a:rect l="l" t="t" r="r" b="b"/>
              <a:pathLst>
                <a:path w="21945600" h="4260657">
                  <a:moveTo>
                    <a:pt x="0" y="0"/>
                  </a:moveTo>
                  <a:lnTo>
                    <a:pt x="21945600" y="0"/>
                  </a:lnTo>
                  <a:lnTo>
                    <a:pt x="21945600" y="4260657"/>
                  </a:lnTo>
                  <a:lnTo>
                    <a:pt x="0" y="42606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3535" b="-27189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76200"/>
              <a:ext cx="21945600" cy="43368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479"/>
                </a:lnSpc>
              </a:pPr>
              <a:endParaRPr dirty="0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4151553" y="4739757"/>
            <a:ext cx="456057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u="sng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13" tooltip="https://aws-anomally-detection.vercel.app"/>
              </a:rPr>
              <a:t>See It In Action Here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E8C119-54C3-083E-EB34-BB01FE402CE2}"/>
              </a:ext>
            </a:extLst>
          </p:cNvPr>
          <p:cNvSpPr txBox="1"/>
          <p:nvPr/>
        </p:nvSpPr>
        <p:spPr>
          <a:xfrm>
            <a:off x="6542819" y="1058282"/>
            <a:ext cx="5784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67" y="0"/>
            <a:ext cx="18288000" cy="9864395"/>
            <a:chOff x="0" y="0"/>
            <a:chExt cx="24384000" cy="13152526"/>
          </a:xfrm>
        </p:grpSpPr>
        <p:sp>
          <p:nvSpPr>
            <p:cNvPr id="3" name="Freeform 3" descr="Clouds Wallpapers - Wallpaper Cave"/>
            <p:cNvSpPr/>
            <p:nvPr/>
          </p:nvSpPr>
          <p:spPr>
            <a:xfrm>
              <a:off x="0" y="0"/>
              <a:ext cx="24384000" cy="13152501"/>
            </a:xfrm>
            <a:custGeom>
              <a:avLst/>
              <a:gdLst/>
              <a:ahLst/>
              <a:cxnLst/>
              <a:rect l="l" t="t" r="r" b="b"/>
              <a:pathLst>
                <a:path w="24384000" h="13152501">
                  <a:moveTo>
                    <a:pt x="0" y="0"/>
                  </a:moveTo>
                  <a:lnTo>
                    <a:pt x="24384000" y="0"/>
                  </a:lnTo>
                  <a:lnTo>
                    <a:pt x="24384000" y="13152501"/>
                  </a:lnTo>
                  <a:lnTo>
                    <a:pt x="0" y="13152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8249"/>
              </a:blip>
              <a:stretch>
                <a:fillRect t="-7886" b="-788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-98765"/>
            <a:ext cx="2421817" cy="1092213"/>
            <a:chOff x="0" y="0"/>
            <a:chExt cx="3229089" cy="14562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29102" cy="1456309"/>
            </a:xfrm>
            <a:custGeom>
              <a:avLst/>
              <a:gdLst/>
              <a:ahLst/>
              <a:cxnLst/>
              <a:rect l="l" t="t" r="r" b="b"/>
              <a:pathLst>
                <a:path w="3229102" h="1456309">
                  <a:moveTo>
                    <a:pt x="0" y="0"/>
                  </a:moveTo>
                  <a:lnTo>
                    <a:pt x="3229102" y="0"/>
                  </a:lnTo>
                  <a:lnTo>
                    <a:pt x="3229102" y="1456309"/>
                  </a:lnTo>
                  <a:lnTo>
                    <a:pt x="0" y="1456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4407703" y="2879865"/>
            <a:ext cx="377327" cy="980070"/>
          </a:xfrm>
          <a:custGeom>
            <a:avLst/>
            <a:gdLst/>
            <a:ahLst/>
            <a:cxnLst/>
            <a:rect l="l" t="t" r="r" b="b"/>
            <a:pathLst>
              <a:path w="377327" h="980070">
                <a:moveTo>
                  <a:pt x="0" y="0"/>
                </a:moveTo>
                <a:lnTo>
                  <a:pt x="377327" y="0"/>
                </a:lnTo>
                <a:lnTo>
                  <a:pt x="377327" y="980070"/>
                </a:lnTo>
                <a:lnTo>
                  <a:pt x="0" y="980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1773152"/>
            <a:ext cx="7141500" cy="1596748"/>
          </a:xfrm>
          <a:custGeom>
            <a:avLst/>
            <a:gdLst/>
            <a:ahLst/>
            <a:cxnLst/>
            <a:rect l="l" t="t" r="r" b="b"/>
            <a:pathLst>
              <a:path w="7141500" h="1596748">
                <a:moveTo>
                  <a:pt x="0" y="0"/>
                </a:moveTo>
                <a:lnTo>
                  <a:pt x="7141500" y="0"/>
                </a:lnTo>
                <a:lnTo>
                  <a:pt x="7141500" y="1596748"/>
                </a:lnTo>
                <a:lnTo>
                  <a:pt x="0" y="15967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407703" y="4551710"/>
            <a:ext cx="377327" cy="980070"/>
          </a:xfrm>
          <a:custGeom>
            <a:avLst/>
            <a:gdLst/>
            <a:ahLst/>
            <a:cxnLst/>
            <a:rect l="l" t="t" r="r" b="b"/>
            <a:pathLst>
              <a:path w="377327" h="980070">
                <a:moveTo>
                  <a:pt x="0" y="0"/>
                </a:moveTo>
                <a:lnTo>
                  <a:pt x="377327" y="0"/>
                </a:lnTo>
                <a:lnTo>
                  <a:pt x="377327" y="980070"/>
                </a:lnTo>
                <a:lnTo>
                  <a:pt x="0" y="980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3859935"/>
            <a:ext cx="7135333" cy="1262270"/>
          </a:xfrm>
          <a:custGeom>
            <a:avLst/>
            <a:gdLst/>
            <a:ahLst/>
            <a:cxnLst/>
            <a:rect l="l" t="t" r="r" b="b"/>
            <a:pathLst>
              <a:path w="7135333" h="1262270">
                <a:moveTo>
                  <a:pt x="0" y="0"/>
                </a:moveTo>
                <a:lnTo>
                  <a:pt x="7135333" y="0"/>
                </a:lnTo>
                <a:lnTo>
                  <a:pt x="7135333" y="1262270"/>
                </a:lnTo>
                <a:lnTo>
                  <a:pt x="0" y="12622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07703" y="6017555"/>
            <a:ext cx="377327" cy="980070"/>
          </a:xfrm>
          <a:custGeom>
            <a:avLst/>
            <a:gdLst/>
            <a:ahLst/>
            <a:cxnLst/>
            <a:rect l="l" t="t" r="r" b="b"/>
            <a:pathLst>
              <a:path w="377327" h="980070">
                <a:moveTo>
                  <a:pt x="0" y="0"/>
                </a:moveTo>
                <a:lnTo>
                  <a:pt x="377327" y="0"/>
                </a:lnTo>
                <a:lnTo>
                  <a:pt x="377327" y="980070"/>
                </a:lnTo>
                <a:lnTo>
                  <a:pt x="0" y="980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8700" y="5531780"/>
            <a:ext cx="7141500" cy="1127142"/>
          </a:xfrm>
          <a:custGeom>
            <a:avLst/>
            <a:gdLst/>
            <a:ahLst/>
            <a:cxnLst/>
            <a:rect l="l" t="t" r="r" b="b"/>
            <a:pathLst>
              <a:path w="7141500" h="1127142">
                <a:moveTo>
                  <a:pt x="0" y="0"/>
                </a:moveTo>
                <a:lnTo>
                  <a:pt x="7141500" y="0"/>
                </a:lnTo>
                <a:lnTo>
                  <a:pt x="7141500" y="1127142"/>
                </a:lnTo>
                <a:lnTo>
                  <a:pt x="0" y="11271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423548" y="7528523"/>
            <a:ext cx="377327" cy="980070"/>
          </a:xfrm>
          <a:custGeom>
            <a:avLst/>
            <a:gdLst/>
            <a:ahLst/>
            <a:cxnLst/>
            <a:rect l="l" t="t" r="r" b="b"/>
            <a:pathLst>
              <a:path w="377327" h="980070">
                <a:moveTo>
                  <a:pt x="0" y="0"/>
                </a:moveTo>
                <a:lnTo>
                  <a:pt x="377327" y="0"/>
                </a:lnTo>
                <a:lnTo>
                  <a:pt x="377327" y="980070"/>
                </a:lnTo>
                <a:lnTo>
                  <a:pt x="0" y="980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41462" y="6973247"/>
            <a:ext cx="7141500" cy="1045312"/>
          </a:xfrm>
          <a:custGeom>
            <a:avLst/>
            <a:gdLst/>
            <a:ahLst/>
            <a:cxnLst/>
            <a:rect l="l" t="t" r="r" b="b"/>
            <a:pathLst>
              <a:path w="7141500" h="1045312">
                <a:moveTo>
                  <a:pt x="0" y="0"/>
                </a:moveTo>
                <a:lnTo>
                  <a:pt x="7141499" y="0"/>
                </a:lnTo>
                <a:lnTo>
                  <a:pt x="7141499" y="1045311"/>
                </a:lnTo>
                <a:lnTo>
                  <a:pt x="0" y="1045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41462" y="8428133"/>
            <a:ext cx="7135333" cy="1134967"/>
          </a:xfrm>
          <a:custGeom>
            <a:avLst/>
            <a:gdLst/>
            <a:ahLst/>
            <a:cxnLst/>
            <a:rect l="l" t="t" r="r" b="b"/>
            <a:pathLst>
              <a:path w="7135333" h="1134967">
                <a:moveTo>
                  <a:pt x="0" y="0"/>
                </a:moveTo>
                <a:lnTo>
                  <a:pt x="7135333" y="0"/>
                </a:lnTo>
                <a:lnTo>
                  <a:pt x="7135333" y="1134967"/>
                </a:lnTo>
                <a:lnTo>
                  <a:pt x="0" y="11349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7297022">
            <a:off x="4139652" y="1451734"/>
            <a:ext cx="913430" cy="301432"/>
          </a:xfrm>
          <a:custGeom>
            <a:avLst/>
            <a:gdLst/>
            <a:ahLst/>
            <a:cxnLst/>
            <a:rect l="l" t="t" r="r" b="b"/>
            <a:pathLst>
              <a:path w="913430" h="301432">
                <a:moveTo>
                  <a:pt x="0" y="0"/>
                </a:moveTo>
                <a:lnTo>
                  <a:pt x="913429" y="0"/>
                </a:lnTo>
                <a:lnTo>
                  <a:pt x="913429" y="301432"/>
                </a:lnTo>
                <a:lnTo>
                  <a:pt x="0" y="301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-2286" y="9532144"/>
            <a:ext cx="18288000" cy="754856"/>
            <a:chOff x="0" y="0"/>
            <a:chExt cx="24384000" cy="10064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3104114" y="9534525"/>
            <a:ext cx="4267200" cy="547688"/>
            <a:chOff x="0" y="0"/>
            <a:chExt cx="5689600" cy="7302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8547794" y="2070386"/>
            <a:ext cx="9324918" cy="1405594"/>
          </a:xfrm>
          <a:custGeom>
            <a:avLst/>
            <a:gdLst/>
            <a:ahLst/>
            <a:cxnLst/>
            <a:rect l="l" t="t" r="r" b="b"/>
            <a:pathLst>
              <a:path w="9324918" h="1405594">
                <a:moveTo>
                  <a:pt x="0" y="0"/>
                </a:moveTo>
                <a:lnTo>
                  <a:pt x="9324918" y="0"/>
                </a:lnTo>
                <a:lnTo>
                  <a:pt x="9324918" y="1405594"/>
                </a:lnTo>
                <a:lnTo>
                  <a:pt x="0" y="14055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575881" y="4366423"/>
            <a:ext cx="9324918" cy="1554153"/>
          </a:xfrm>
          <a:custGeom>
            <a:avLst/>
            <a:gdLst/>
            <a:ahLst/>
            <a:cxnLst/>
            <a:rect l="l" t="t" r="r" b="b"/>
            <a:pathLst>
              <a:path w="9324918" h="1554153">
                <a:moveTo>
                  <a:pt x="0" y="0"/>
                </a:moveTo>
                <a:lnTo>
                  <a:pt x="9324918" y="0"/>
                </a:lnTo>
                <a:lnTo>
                  <a:pt x="9324918" y="1554154"/>
                </a:lnTo>
                <a:lnTo>
                  <a:pt x="0" y="15541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575881" y="6915972"/>
            <a:ext cx="9324918" cy="1392004"/>
          </a:xfrm>
          <a:custGeom>
            <a:avLst/>
            <a:gdLst/>
            <a:ahLst/>
            <a:cxnLst/>
            <a:rect l="l" t="t" r="r" b="b"/>
            <a:pathLst>
              <a:path w="9324918" h="1392004">
                <a:moveTo>
                  <a:pt x="0" y="0"/>
                </a:moveTo>
                <a:lnTo>
                  <a:pt x="9324918" y="0"/>
                </a:lnTo>
                <a:lnTo>
                  <a:pt x="9324918" y="1392004"/>
                </a:lnTo>
                <a:lnTo>
                  <a:pt x="0" y="13920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185"/>
            </a:stretch>
          </a:blipFill>
        </p:spPr>
      </p:sp>
      <p:sp>
        <p:nvSpPr>
          <p:cNvPr id="26" name="Freeform 26"/>
          <p:cNvSpPr/>
          <p:nvPr/>
        </p:nvSpPr>
        <p:spPr>
          <a:xfrm rot="3746914" flipV="1">
            <a:off x="11365257" y="1445036"/>
            <a:ext cx="913430" cy="301432"/>
          </a:xfrm>
          <a:custGeom>
            <a:avLst/>
            <a:gdLst/>
            <a:ahLst/>
            <a:cxnLst/>
            <a:rect l="l" t="t" r="r" b="b"/>
            <a:pathLst>
              <a:path w="913430" h="301432">
                <a:moveTo>
                  <a:pt x="0" y="301432"/>
                </a:moveTo>
                <a:lnTo>
                  <a:pt x="913430" y="301432"/>
                </a:lnTo>
                <a:lnTo>
                  <a:pt x="913430" y="0"/>
                </a:lnTo>
                <a:lnTo>
                  <a:pt x="0" y="0"/>
                </a:lnTo>
                <a:lnTo>
                  <a:pt x="0" y="3014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77411" y="-1085246"/>
            <a:ext cx="16459200" cy="3195492"/>
            <a:chOff x="0" y="0"/>
            <a:chExt cx="21945600" cy="426065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45600" cy="4260657"/>
            </a:xfrm>
            <a:custGeom>
              <a:avLst/>
              <a:gdLst/>
              <a:ahLst/>
              <a:cxnLst/>
              <a:rect l="l" t="t" r="r" b="b"/>
              <a:pathLst>
                <a:path w="21945600" h="4260657">
                  <a:moveTo>
                    <a:pt x="0" y="0"/>
                  </a:moveTo>
                  <a:lnTo>
                    <a:pt x="21945600" y="0"/>
                  </a:lnTo>
                  <a:lnTo>
                    <a:pt x="21945600" y="4260657"/>
                  </a:lnTo>
                  <a:lnTo>
                    <a:pt x="0" y="4260657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73535" b="-2718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21945600" cy="43368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479"/>
                </a:lnSpc>
              </a:pPr>
              <a:endParaRPr dirty="0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127980" y="3060864"/>
            <a:ext cx="798671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926652" y="3072719"/>
            <a:ext cx="1195490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Fast API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70129" y="3060863"/>
            <a:ext cx="79093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sklearn</a:t>
            </a:r>
            <a:endParaRPr lang="en-US" sz="1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5828687" y="3093347"/>
            <a:ext cx="838199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pandas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506837" y="3072719"/>
            <a:ext cx="1265658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NumPy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73581" y="5514812"/>
            <a:ext cx="75307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Next.js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639030" y="5406227"/>
            <a:ext cx="82203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Tailwind CSS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236698" y="5503204"/>
            <a:ext cx="859753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461061" y="5503204"/>
            <a:ext cx="1311949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TypeScript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567287" y="5503204"/>
            <a:ext cx="1311948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Streamlit</a:t>
            </a:r>
            <a:endParaRPr lang="en-US" sz="1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1" name="TextBox 41"/>
          <p:cNvSpPr txBox="1"/>
          <p:nvPr/>
        </p:nvSpPr>
        <p:spPr>
          <a:xfrm rot="10800000" flipV="1">
            <a:off x="12943441" y="7885816"/>
            <a:ext cx="1920179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NASA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200260" y="8049114"/>
            <a:ext cx="1502316" cy="620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GitHub</a:t>
            </a:r>
          </a:p>
          <a:p>
            <a:pPr algn="ctr">
              <a:lnSpc>
                <a:spcPts val="2534"/>
              </a:lnSpc>
            </a:pPr>
            <a:endParaRPr lang="en-US" sz="1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6" name="Freeform 34">
            <a:extLst>
              <a:ext uri="{FF2B5EF4-FFF2-40B4-BE49-F238E27FC236}">
                <a16:creationId xmlns:a16="http://schemas.microsoft.com/office/drawing/2014/main" id="{944BA780-4FAB-6D6D-B024-72B0739EF588}"/>
              </a:ext>
            </a:extLst>
          </p:cNvPr>
          <p:cNvSpPr/>
          <p:nvPr/>
        </p:nvSpPr>
        <p:spPr>
          <a:xfrm>
            <a:off x="2757290" y="0"/>
            <a:ext cx="12106330" cy="1829652"/>
          </a:xfrm>
          <a:custGeom>
            <a:avLst/>
            <a:gdLst/>
            <a:ahLst/>
            <a:cxnLst/>
            <a:rect l="l" t="t" r="r" b="b"/>
            <a:pathLst>
              <a:path w="4963578" h="1654526">
                <a:moveTo>
                  <a:pt x="0" y="0"/>
                </a:moveTo>
                <a:lnTo>
                  <a:pt x="4963577" y="0"/>
                </a:lnTo>
                <a:lnTo>
                  <a:pt x="4963577" y="1654526"/>
                </a:lnTo>
                <a:lnTo>
                  <a:pt x="0" y="165452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BF25CD-F061-D997-A775-D6173171E775}"/>
              </a:ext>
            </a:extLst>
          </p:cNvPr>
          <p:cNvSpPr txBox="1"/>
          <p:nvPr/>
        </p:nvSpPr>
        <p:spPr>
          <a:xfrm>
            <a:off x="4380808" y="1042684"/>
            <a:ext cx="7999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           WORKFLOW &amp; TECH-STACK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624" y="-18231"/>
            <a:ext cx="18288000" cy="9864376"/>
            <a:chOff x="142137" y="-24308"/>
            <a:chExt cx="24384000" cy="13152501"/>
          </a:xfrm>
        </p:grpSpPr>
        <p:sp>
          <p:nvSpPr>
            <p:cNvPr id="3" name="Freeform 3" descr="Clouds Wallpapers - Wallpaper Cave"/>
            <p:cNvSpPr/>
            <p:nvPr/>
          </p:nvSpPr>
          <p:spPr>
            <a:xfrm>
              <a:off x="142137" y="-24308"/>
              <a:ext cx="24384000" cy="13152501"/>
            </a:xfrm>
            <a:custGeom>
              <a:avLst/>
              <a:gdLst/>
              <a:ahLst/>
              <a:cxnLst/>
              <a:rect l="l" t="t" r="r" b="b"/>
              <a:pathLst>
                <a:path w="24384000" h="13152501">
                  <a:moveTo>
                    <a:pt x="0" y="0"/>
                  </a:moveTo>
                  <a:lnTo>
                    <a:pt x="24384000" y="0"/>
                  </a:lnTo>
                  <a:lnTo>
                    <a:pt x="24384000" y="13152501"/>
                  </a:lnTo>
                  <a:lnTo>
                    <a:pt x="0" y="13152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8249"/>
              </a:blip>
              <a:stretch>
                <a:fillRect t="-7886" b="-788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-98765"/>
            <a:ext cx="2421817" cy="1092213"/>
            <a:chOff x="0" y="0"/>
            <a:chExt cx="3229089" cy="14562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29102" cy="1456309"/>
            </a:xfrm>
            <a:custGeom>
              <a:avLst/>
              <a:gdLst/>
              <a:ahLst/>
              <a:cxnLst/>
              <a:rect l="l" t="t" r="r" b="b"/>
              <a:pathLst>
                <a:path w="3229102" h="1456309">
                  <a:moveTo>
                    <a:pt x="0" y="0"/>
                  </a:moveTo>
                  <a:lnTo>
                    <a:pt x="3229102" y="0"/>
                  </a:lnTo>
                  <a:lnTo>
                    <a:pt x="3229102" y="1456309"/>
                  </a:lnTo>
                  <a:lnTo>
                    <a:pt x="0" y="1456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048000" y="-668182"/>
            <a:ext cx="16459200" cy="3195492"/>
            <a:chOff x="0" y="0"/>
            <a:chExt cx="21945600" cy="42606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45600" cy="4260657"/>
            </a:xfrm>
            <a:custGeom>
              <a:avLst/>
              <a:gdLst/>
              <a:ahLst/>
              <a:cxnLst/>
              <a:rect l="l" t="t" r="r" b="b"/>
              <a:pathLst>
                <a:path w="21945600" h="4260657">
                  <a:moveTo>
                    <a:pt x="0" y="0"/>
                  </a:moveTo>
                  <a:lnTo>
                    <a:pt x="21945600" y="0"/>
                  </a:lnTo>
                  <a:lnTo>
                    <a:pt x="21945600" y="4260657"/>
                  </a:lnTo>
                  <a:lnTo>
                    <a:pt x="0" y="42606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535" b="-2718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21945600" cy="43368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479"/>
                </a:lnSpc>
              </a:pPr>
              <a:endParaRPr dirty="0"/>
            </a:p>
          </p:txBody>
        </p:sp>
      </p:grpSp>
      <p:sp>
        <p:nvSpPr>
          <p:cNvPr id="19" name="Freeform 19"/>
          <p:cNvSpPr/>
          <p:nvPr/>
        </p:nvSpPr>
        <p:spPr>
          <a:xfrm>
            <a:off x="190552" y="7033553"/>
            <a:ext cx="4462530" cy="2323883"/>
          </a:xfrm>
          <a:custGeom>
            <a:avLst/>
            <a:gdLst/>
            <a:ahLst/>
            <a:cxnLst/>
            <a:rect l="l" t="t" r="r" b="b"/>
            <a:pathLst>
              <a:path w="4462530" h="2323883">
                <a:moveTo>
                  <a:pt x="0" y="0"/>
                </a:moveTo>
                <a:lnTo>
                  <a:pt x="4462530" y="0"/>
                </a:lnTo>
                <a:lnTo>
                  <a:pt x="4462530" y="2323884"/>
                </a:lnTo>
                <a:lnTo>
                  <a:pt x="0" y="23238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747012" y="7033553"/>
            <a:ext cx="4396988" cy="2323883"/>
          </a:xfrm>
          <a:custGeom>
            <a:avLst/>
            <a:gdLst/>
            <a:ahLst/>
            <a:cxnLst/>
            <a:rect l="l" t="t" r="r" b="b"/>
            <a:pathLst>
              <a:path w="4396988" h="2323883">
                <a:moveTo>
                  <a:pt x="0" y="0"/>
                </a:moveTo>
                <a:lnTo>
                  <a:pt x="4396988" y="0"/>
                </a:lnTo>
                <a:lnTo>
                  <a:pt x="4396988" y="2323884"/>
                </a:lnTo>
                <a:lnTo>
                  <a:pt x="0" y="23238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239250" y="7033553"/>
            <a:ext cx="4412862" cy="2323883"/>
          </a:xfrm>
          <a:custGeom>
            <a:avLst/>
            <a:gdLst/>
            <a:ahLst/>
            <a:cxnLst/>
            <a:rect l="l" t="t" r="r" b="b"/>
            <a:pathLst>
              <a:path w="4412862" h="2323883">
                <a:moveTo>
                  <a:pt x="0" y="0"/>
                </a:moveTo>
                <a:lnTo>
                  <a:pt x="4412862" y="0"/>
                </a:lnTo>
                <a:lnTo>
                  <a:pt x="4412862" y="2323884"/>
                </a:lnTo>
                <a:lnTo>
                  <a:pt x="0" y="23238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747362" y="7033553"/>
            <a:ext cx="4367582" cy="2323883"/>
          </a:xfrm>
          <a:custGeom>
            <a:avLst/>
            <a:gdLst/>
            <a:ahLst/>
            <a:cxnLst/>
            <a:rect l="l" t="t" r="r" b="b"/>
            <a:pathLst>
              <a:path w="4367582" h="2323883">
                <a:moveTo>
                  <a:pt x="0" y="0"/>
                </a:moveTo>
                <a:lnTo>
                  <a:pt x="4367582" y="0"/>
                </a:lnTo>
                <a:lnTo>
                  <a:pt x="4367582" y="2323884"/>
                </a:lnTo>
                <a:lnTo>
                  <a:pt x="0" y="23238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Freeform 34">
            <a:extLst>
              <a:ext uri="{FF2B5EF4-FFF2-40B4-BE49-F238E27FC236}">
                <a16:creationId xmlns:a16="http://schemas.microsoft.com/office/drawing/2014/main" id="{16ACF8DE-4A24-529D-3D1F-0B306592B8C8}"/>
              </a:ext>
            </a:extLst>
          </p:cNvPr>
          <p:cNvSpPr/>
          <p:nvPr/>
        </p:nvSpPr>
        <p:spPr>
          <a:xfrm>
            <a:off x="2968955" y="35370"/>
            <a:ext cx="12208573" cy="1654527"/>
          </a:xfrm>
          <a:custGeom>
            <a:avLst/>
            <a:gdLst/>
            <a:ahLst/>
            <a:cxnLst/>
            <a:rect l="l" t="t" r="r" b="b"/>
            <a:pathLst>
              <a:path w="4963578" h="1654526">
                <a:moveTo>
                  <a:pt x="0" y="0"/>
                </a:moveTo>
                <a:lnTo>
                  <a:pt x="4963577" y="0"/>
                </a:lnTo>
                <a:lnTo>
                  <a:pt x="4963577" y="1654526"/>
                </a:lnTo>
                <a:lnTo>
                  <a:pt x="0" y="16545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7" name="Group 17"/>
          <p:cNvGrpSpPr/>
          <p:nvPr/>
        </p:nvGrpSpPr>
        <p:grpSpPr>
          <a:xfrm>
            <a:off x="3200400" y="1363740"/>
            <a:ext cx="13676590" cy="5679499"/>
            <a:chOff x="0" y="0"/>
            <a:chExt cx="15534053" cy="64508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534053" cy="6450902"/>
            </a:xfrm>
            <a:custGeom>
              <a:avLst/>
              <a:gdLst/>
              <a:ahLst/>
              <a:cxnLst/>
              <a:rect l="l" t="t" r="r" b="b"/>
              <a:pathLst>
                <a:path w="15534053" h="6450902">
                  <a:moveTo>
                    <a:pt x="0" y="0"/>
                  </a:moveTo>
                  <a:lnTo>
                    <a:pt x="15534053" y="0"/>
                  </a:lnTo>
                  <a:lnTo>
                    <a:pt x="15534053" y="6450902"/>
                  </a:lnTo>
                  <a:lnTo>
                    <a:pt x="0" y="6450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21380" b="-14041"/>
              </a:stretch>
            </a:blipFill>
          </p:spPr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698AC36-73C4-5CE2-53FC-3E9B89D4756F}"/>
              </a:ext>
            </a:extLst>
          </p:cNvPr>
          <p:cNvSpPr txBox="1"/>
          <p:nvPr/>
        </p:nvSpPr>
        <p:spPr>
          <a:xfrm>
            <a:off x="6774772" y="1051625"/>
            <a:ext cx="510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IMPACT &amp;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5842"/>
            <a:ext cx="18288000" cy="9864376"/>
            <a:chOff x="-6275965" y="3778142"/>
            <a:chExt cx="24384000" cy="13152501"/>
          </a:xfrm>
        </p:grpSpPr>
        <p:sp>
          <p:nvSpPr>
            <p:cNvPr id="3" name="Freeform 3" descr="Clouds Wallpapers - Wallpaper Cave"/>
            <p:cNvSpPr/>
            <p:nvPr/>
          </p:nvSpPr>
          <p:spPr>
            <a:xfrm>
              <a:off x="-6275965" y="3778142"/>
              <a:ext cx="24384000" cy="13152501"/>
            </a:xfrm>
            <a:custGeom>
              <a:avLst/>
              <a:gdLst/>
              <a:ahLst/>
              <a:cxnLst/>
              <a:rect l="l" t="t" r="r" b="b"/>
              <a:pathLst>
                <a:path w="24384000" h="13152501">
                  <a:moveTo>
                    <a:pt x="0" y="0"/>
                  </a:moveTo>
                  <a:lnTo>
                    <a:pt x="24384000" y="0"/>
                  </a:lnTo>
                  <a:lnTo>
                    <a:pt x="24384000" y="13152501"/>
                  </a:lnTo>
                  <a:lnTo>
                    <a:pt x="0" y="13152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8249"/>
              </a:blip>
              <a:stretch>
                <a:fillRect t="-7886" b="-788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-1" y="1866899"/>
            <a:ext cx="18044931" cy="764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Links:</a:t>
            </a:r>
          </a:p>
          <a:p>
            <a:pPr marL="407194" lvl="1" indent="-203597" algn="just">
              <a:lnSpc>
                <a:spcPts val="2700"/>
              </a:lnSpc>
              <a:buFont typeface="Arial"/>
              <a:buChar char="•"/>
            </a:pPr>
            <a:r>
              <a:rPr lang="en-US" sz="225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NASA POWER : </a:t>
            </a:r>
            <a:r>
              <a:rPr lang="en-US" sz="225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power.larc.nasa.gov/data-access-viewer/?utm_source=chatgpt.com"/>
              </a:rPr>
              <a:t>https://power.larc.nasa.gov/data-access-viewer/?utm_source=chatgpt.com</a:t>
            </a:r>
          </a:p>
          <a:p>
            <a:pPr marL="407194" lvl="1" indent="-203597" algn="just">
              <a:lnSpc>
                <a:spcPts val="2700"/>
              </a:lnSpc>
            </a:pPr>
            <a:endParaRPr lang="en-US" sz="2250" u="sng" dirty="0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4" tooltip="https://power.larc.nasa.gov/data-access-viewer/?utm_source=chatgpt.com"/>
            </a:endParaRPr>
          </a:p>
          <a:p>
            <a:pPr marL="407194" lvl="1" indent="-203597" algn="just">
              <a:lnSpc>
                <a:spcPts val="2700"/>
              </a:lnSpc>
            </a:pP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 related Links:</a:t>
            </a:r>
          </a:p>
          <a:p>
            <a:pPr marL="407194" lvl="1" indent="-203597" algn="just">
              <a:lnSpc>
                <a:spcPts val="2700"/>
              </a:lnSpc>
              <a:buFont typeface="Arial"/>
              <a:buChar char="•"/>
            </a:pPr>
            <a:r>
              <a:rPr lang="en-US" sz="225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two-step machine learning approach for predictive maintenance and anomaly detection in environmental sensor systems: </a:t>
            </a:r>
            <a:r>
              <a:rPr lang="en-US" sz="225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www.sciencedirect.com/science/article/pii/S2215016125000299?via%3Dihub"/>
              </a:rPr>
              <a:t>https://www.sciencedirect.com/science/article/pii/S2215016125000299?via%3Dihub</a:t>
            </a: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marL="407194" lvl="1" indent="-203597" algn="just">
              <a:lnSpc>
                <a:spcPts val="2700"/>
              </a:lnSpc>
              <a:buFont typeface="Arial"/>
              <a:buChar char="•"/>
            </a:pPr>
            <a:r>
              <a:rPr lang="en-US" sz="225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Temperature, pressure, relative humidity and rainfall sensors early error detection system for automatic weather station (AWS) with artificial neural network (ANN) backpropagation: </a:t>
            </a:r>
            <a:r>
              <a:rPr lang="en-US" sz="2250" u="sng" dirty="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iopscience.iop.org/article/10.1088/1742-6596/1816/1/012056"/>
              </a:rPr>
              <a:t>https://iopscience.iop.org/article/10.1088/1742-6596/1816/1/012056</a:t>
            </a: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marL="407194" lvl="1" indent="-203597" algn="just">
              <a:lnSpc>
                <a:spcPts val="2700"/>
              </a:lnSpc>
            </a:pPr>
            <a:endParaRPr lang="en-US" sz="225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07194" lvl="1" indent="-203597" algn="just">
              <a:lnSpc>
                <a:spcPts val="2700"/>
              </a:lnSpc>
              <a:buFont typeface="Arial"/>
              <a:buChar char="•"/>
            </a:pPr>
            <a:r>
              <a:rPr lang="en-US" sz="225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</a:t>
            </a:r>
          </a:p>
          <a:p>
            <a:pPr marL="407194" lvl="1" indent="-203597" algn="just">
              <a:lnSpc>
                <a:spcPts val="2700"/>
              </a:lnSpc>
              <a:buAutoNum type="arabicPeriod"/>
            </a:pP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Shailesh 26BCSE105N004 [SEM-I]</a:t>
            </a:r>
          </a:p>
          <a:p>
            <a:pPr marL="407194" lvl="1" indent="-203597" algn="just">
              <a:lnSpc>
                <a:spcPts val="2700"/>
              </a:lnSpc>
              <a:buAutoNum type="arabicPeriod"/>
            </a:pP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Himanshu 26BCSE103N011 [SEM-1]</a:t>
            </a:r>
          </a:p>
          <a:p>
            <a:pPr marL="407194" lvl="1" indent="-203597" algn="just">
              <a:lnSpc>
                <a:spcPts val="2700"/>
              </a:lnSpc>
              <a:buAutoNum type="arabicPeriod"/>
            </a:pP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Dhruv Sharma 26BCSE105N016 [SEM-1]</a:t>
            </a:r>
          </a:p>
          <a:p>
            <a:pPr marL="407194" lvl="1" indent="-203597" algn="just">
              <a:lnSpc>
                <a:spcPts val="2700"/>
              </a:lnSpc>
              <a:buAutoNum type="arabicPeriod"/>
            </a:pP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Lavanya 26BCSE102N002 [SEM-I]</a:t>
            </a:r>
          </a:p>
          <a:p>
            <a:pPr marL="407194" lvl="1" indent="-203597" algn="just">
              <a:lnSpc>
                <a:spcPts val="2700"/>
              </a:lnSpc>
              <a:buAutoNum type="arabicPeriod"/>
            </a:pP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Manmeet Kaur 26BCSE105N010 [SEM-I]</a:t>
            </a:r>
          </a:p>
          <a:p>
            <a:pPr marL="407194" lvl="1" indent="-203597" algn="just">
              <a:lnSpc>
                <a:spcPts val="2700"/>
              </a:lnSpc>
              <a:buAutoNum type="arabicPeriod"/>
            </a:pP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Saksham Mathur 26BCSE105N012 [SEM-I]</a:t>
            </a:r>
          </a:p>
          <a:p>
            <a:pPr marL="407194" lvl="1" indent="-203597" algn="just">
              <a:lnSpc>
                <a:spcPts val="2700"/>
              </a:lnSpc>
            </a:pPr>
            <a:endParaRPr lang="en-US" sz="225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07194" lvl="1" indent="-203597" algn="just">
              <a:lnSpc>
                <a:spcPts val="2700"/>
              </a:lnSpc>
              <a:buFont typeface="Arial"/>
              <a:buChar char="•"/>
            </a:pPr>
            <a:r>
              <a:rPr lang="en-US" sz="225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Mentor </a:t>
            </a:r>
          </a:p>
          <a:p>
            <a:pPr marL="407194" lvl="1" indent="-203597" algn="just">
              <a:lnSpc>
                <a:spcPts val="2700"/>
              </a:lnSpc>
              <a:buFont typeface="Arial"/>
              <a:buChar char="•"/>
            </a:pPr>
            <a:r>
              <a:rPr lang="en-US" sz="225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Mr. Vijay Kumar [ Dept. Applied Sciences ]</a:t>
            </a:r>
          </a:p>
          <a:p>
            <a:pPr marL="407194" lvl="1" indent="-203597" algn="just">
              <a:lnSpc>
                <a:spcPts val="2700"/>
              </a:lnSpc>
            </a:pPr>
            <a:endParaRPr lang="en-US" sz="225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34340" lvl="1" indent="-217170" algn="just">
              <a:lnSpc>
                <a:spcPts val="2879"/>
              </a:lnSpc>
            </a:pPr>
            <a:endParaRPr lang="en-US" sz="225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07194" lvl="1" indent="-203597" algn="just">
              <a:lnSpc>
                <a:spcPts val="2700"/>
              </a:lnSpc>
            </a:pPr>
            <a:endParaRPr lang="en-US" sz="225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1" name="Freeform 34">
            <a:extLst>
              <a:ext uri="{FF2B5EF4-FFF2-40B4-BE49-F238E27FC236}">
                <a16:creationId xmlns:a16="http://schemas.microsoft.com/office/drawing/2014/main" id="{8FD9F8A0-B718-F485-3CAE-130CEB7505D9}"/>
              </a:ext>
            </a:extLst>
          </p:cNvPr>
          <p:cNvSpPr/>
          <p:nvPr/>
        </p:nvSpPr>
        <p:spPr>
          <a:xfrm>
            <a:off x="3340684" y="-47162"/>
            <a:ext cx="11907065" cy="2081257"/>
          </a:xfrm>
          <a:custGeom>
            <a:avLst/>
            <a:gdLst/>
            <a:ahLst/>
            <a:cxnLst/>
            <a:rect l="l" t="t" r="r" b="b"/>
            <a:pathLst>
              <a:path w="4963578" h="1654526">
                <a:moveTo>
                  <a:pt x="0" y="0"/>
                </a:moveTo>
                <a:lnTo>
                  <a:pt x="4963577" y="0"/>
                </a:lnTo>
                <a:lnTo>
                  <a:pt x="4963577" y="1654526"/>
                </a:lnTo>
                <a:lnTo>
                  <a:pt x="0" y="16545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-98765"/>
            <a:ext cx="2421817" cy="1092213"/>
            <a:chOff x="0" y="0"/>
            <a:chExt cx="3229089" cy="14562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29102" cy="1456309"/>
            </a:xfrm>
            <a:custGeom>
              <a:avLst/>
              <a:gdLst/>
              <a:ahLst/>
              <a:cxnLst/>
              <a:rect l="l" t="t" r="r" b="b"/>
              <a:pathLst>
                <a:path w="3229102" h="1456309">
                  <a:moveTo>
                    <a:pt x="0" y="0"/>
                  </a:moveTo>
                  <a:lnTo>
                    <a:pt x="3229102" y="0"/>
                  </a:lnTo>
                  <a:lnTo>
                    <a:pt x="3229102" y="1456309"/>
                  </a:lnTo>
                  <a:lnTo>
                    <a:pt x="0" y="1456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3332935" y="-1932859"/>
            <a:ext cx="11622130" cy="352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9479"/>
              </a:lnSpc>
            </a:pP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C2439C-7E70-3201-862D-1AA266F19B00}"/>
              </a:ext>
            </a:extLst>
          </p:cNvPr>
          <p:cNvSpPr txBox="1"/>
          <p:nvPr/>
        </p:nvSpPr>
        <p:spPr>
          <a:xfrm>
            <a:off x="6248400" y="1313694"/>
            <a:ext cx="6751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       RESEARCH &amp; 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408</Words>
  <Application>Microsoft Office PowerPoint</Application>
  <PresentationFormat>Custom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2" baseType="lpstr">
      <vt:lpstr>Montserrat Medium</vt:lpstr>
      <vt:lpstr>Arial</vt:lpstr>
      <vt:lpstr>Arial Bold</vt:lpstr>
      <vt:lpstr>Times New Roman Bold</vt:lpstr>
      <vt:lpstr>Calibri</vt:lpstr>
      <vt:lpstr>Brick Sans</vt:lpstr>
      <vt:lpstr>Oswald</vt:lpstr>
      <vt:lpstr>Calibri (MS) Bold</vt:lpstr>
      <vt:lpstr>Garamond Bold</vt:lpstr>
      <vt:lpstr>Montserrat</vt:lpstr>
      <vt:lpstr>Arimo Bold</vt:lpstr>
      <vt:lpstr>Calibri (MS)</vt:lpstr>
      <vt:lpstr>Montserrat Semi-Bold</vt:lpstr>
      <vt:lpstr>Canva Sans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SIH2026-IDEA-Presentation-excalibur-unfinished (4).pptx</dc:title>
  <dc:creator>lavanya arora</dc:creator>
  <cp:lastModifiedBy>lavanya arora</cp:lastModifiedBy>
  <cp:revision>6</cp:revision>
  <dcterms:created xsi:type="dcterms:W3CDTF">2006-08-16T00:00:00Z</dcterms:created>
  <dcterms:modified xsi:type="dcterms:W3CDTF">2026-09-30T04:49:12Z</dcterms:modified>
  <dc:identifier>DAHU57BaQ0Y</dc:identifier>
</cp:coreProperties>
</file>